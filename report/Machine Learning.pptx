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753600" cy="7315200"/>
  <p:notesSz cx="6858000" cy="9144000"/>
  <p:embeddedFontLst>
    <p:embeddedFont>
      <p:font typeface="Lato" panose="020F0502020204030203" pitchFamily="34" charset="0"/>
      <p:regular r:id="rId31"/>
      <p:bold r:id="rId32"/>
      <p:italic r:id="rId33"/>
      <p:boldItalic r:id="rId34"/>
    </p:embeddedFont>
    <p:embeddedFont>
      <p:font typeface="Lato Bold" panose="020F0502020204030203" charset="0"/>
      <p:regular r:id="rId35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C0203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46534" autoAdjust="0"/>
    <p:restoredTop sz="94622" autoAdjust="0"/>
  </p:normalViewPr>
  <p:slideViewPr>
    <p:cSldViewPr>
      <p:cViewPr varScale="1">
        <p:scale>
          <a:sx n="17" d="100"/>
          <a:sy n="17" d="100"/>
        </p:scale>
        <p:origin x="29" y="1224"/>
      </p:cViewPr>
      <p:guideLst>
        <p:guide orient="horz" pos="216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400" d="100"/>
        <a:sy n="4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tableStyles" Target="tableStyles.xml"/><Relationship Id="rId21" Type="http://schemas.openxmlformats.org/officeDocument/2006/relationships/slide" Target="slides/slide20.xml"/><Relationship Id="rId34" Type="http://schemas.openxmlformats.org/officeDocument/2006/relationships/font" Target="fonts/font4.fntdata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font" Target="fonts/font3.fntdata"/><Relationship Id="rId38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font" Target="fonts/font2.fntdata"/><Relationship Id="rId37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font" Target="fonts/font1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font" Target="fonts/font5.fntdata"/><Relationship Id="rId8" Type="http://schemas.openxmlformats.org/officeDocument/2006/relationships/slide" Target="slides/slide7.xml"/><Relationship Id="rId3" Type="http://schemas.openxmlformats.org/officeDocument/2006/relationships/slide" Target="slides/slide2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  <a:pPr/>
              <a:t>6/26/2026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8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png"/><Relationship Id="rId1" Type="http://schemas.openxmlformats.org/officeDocument/2006/relationships/slideLayout" Target="../slideLayouts/slideLayout7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7.png"/><Relationship Id="rId1" Type="http://schemas.openxmlformats.org/officeDocument/2006/relationships/slideLayout" Target="../slideLayouts/slideLayout7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28.png"/><Relationship Id="rId1" Type="http://schemas.openxmlformats.org/officeDocument/2006/relationships/slideLayout" Target="../slideLayouts/slideLayout7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7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0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Freeform 2"/>
          <p:cNvSpPr/>
          <p:nvPr/>
        </p:nvSpPr>
        <p:spPr>
          <a:xfrm>
            <a:off x="0" y="0"/>
            <a:ext cx="9753600" cy="7315200"/>
          </a:xfrm>
          <a:custGeom>
            <a:avLst/>
            <a:gdLst/>
            <a:ahLst/>
            <a:cxnLst/>
            <a:rect l="l" t="t" r="r" b="b"/>
            <a:pathLst>
              <a:path w="9753600" h="7315200">
                <a:moveTo>
                  <a:pt x="0" y="0"/>
                </a:moveTo>
                <a:lnTo>
                  <a:pt x="9753600" y="0"/>
                </a:lnTo>
                <a:lnTo>
                  <a:pt x="9753600" y="7315200"/>
                </a:lnTo>
                <a:lnTo>
                  <a:pt x="0" y="7315200"/>
                </a:lnTo>
                <a:lnTo>
                  <a:pt x="0" y="0"/>
                </a:lnTo>
                <a:close/>
              </a:path>
            </a:pathLst>
          </a:custGeom>
          <a:blipFill>
            <a:blip r:embed="rId2"/>
            <a:stretch>
              <a:fillRect/>
            </a:stretch>
          </a:blipFill>
        </p:spPr>
        <p:txBody>
          <a:bodyPr/>
          <a:lstStyle/>
          <a:p>
            <a:endParaRPr lang="en-US"/>
          </a:p>
        </p:txBody>
      </p:sp>
      <p:grpSp>
        <p:nvGrpSpPr>
          <p:cNvPr id="3" name="Group 3"/>
          <p:cNvGrpSpPr/>
          <p:nvPr/>
        </p:nvGrpSpPr>
        <p:grpSpPr>
          <a:xfrm>
            <a:off x="440550" y="424977"/>
            <a:ext cx="2173043" cy="652367"/>
            <a:chOff x="0" y="0"/>
            <a:chExt cx="2897391" cy="869823"/>
          </a:xfrm>
        </p:grpSpPr>
        <p:sp>
          <p:nvSpPr>
            <p:cNvPr id="4" name="Freeform 4"/>
            <p:cNvSpPr/>
            <p:nvPr/>
          </p:nvSpPr>
          <p:spPr>
            <a:xfrm>
              <a:off x="0" y="0"/>
              <a:ext cx="2897378" cy="869823"/>
            </a:xfrm>
            <a:custGeom>
              <a:avLst/>
              <a:gdLst/>
              <a:ahLst/>
              <a:cxnLst/>
              <a:rect l="l" t="t" r="r" b="b"/>
              <a:pathLst>
                <a:path w="2897378" h="869823">
                  <a:moveTo>
                    <a:pt x="0" y="0"/>
                  </a:moveTo>
                  <a:lnTo>
                    <a:pt x="2897378" y="0"/>
                  </a:lnTo>
                  <a:lnTo>
                    <a:pt x="2897378" y="869823"/>
                  </a:lnTo>
                  <a:lnTo>
                    <a:pt x="0" y="869823"/>
                  </a:lnTo>
                  <a:lnTo>
                    <a:pt x="0" y="0"/>
                  </a:lnTo>
                  <a:close/>
                </a:path>
              </a:pathLst>
            </a:custGeom>
            <a:blipFill>
              <a:blip r:embed="rId3"/>
              <a:stretch>
                <a:fillRect/>
              </a:stretch>
            </a:blipFill>
          </p:spPr>
          <p:txBody>
            <a:bodyPr/>
            <a:lstStyle/>
            <a:p>
              <a:endParaRPr lang="en-US"/>
            </a:p>
          </p:txBody>
        </p:sp>
      </p:grpSp>
      <p:sp>
        <p:nvSpPr>
          <p:cNvPr id="5" name="TextBox 5"/>
          <p:cNvSpPr txBox="1"/>
          <p:nvPr/>
        </p:nvSpPr>
        <p:spPr>
          <a:xfrm>
            <a:off x="531990" y="2657370"/>
            <a:ext cx="7963775" cy="876834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412"/>
              </a:lnSpc>
            </a:pPr>
            <a:r>
              <a:rPr lang="en-US" sz="3160" b="1">
                <a:solidFill>
                  <a:srgbClr val="C00000"/>
                </a:solidFill>
                <a:latin typeface="Lato Bold"/>
                <a:ea typeface="Lato Bold"/>
                <a:cs typeface="Lato Bold"/>
                <a:sym typeface="Lato Bold"/>
              </a:rPr>
              <a:t>KNOWLEDGE GRAPH EMBEDDINGS AND NEURAL FACTORIZATION MACHINES</a:t>
            </a:r>
          </a:p>
        </p:txBody>
      </p:sp>
      <p:sp>
        <p:nvSpPr>
          <p:cNvPr id="6" name="TextBox 6"/>
          <p:cNvSpPr txBox="1"/>
          <p:nvPr/>
        </p:nvSpPr>
        <p:spPr>
          <a:xfrm>
            <a:off x="531990" y="3553255"/>
            <a:ext cx="8791081" cy="404419"/>
          </a:xfrm>
          <a:prstGeom prst="rect">
            <a:avLst/>
          </a:prstGeom>
        </p:spPr>
        <p:txBody>
          <a:bodyPr lIns="0" tIns="0" rIns="0" bIns="0" rtlCol="0" anchor="t">
            <a:spAutoFit/>
          </a:bodyPr>
          <a:lstStyle/>
          <a:p>
            <a:pPr algn="l">
              <a:lnSpc>
                <a:spcPts val="3009"/>
              </a:lnSpc>
            </a:pPr>
            <a:r>
              <a:rPr lang="en-US" sz="2786">
                <a:solidFill>
                  <a:srgbClr val="C00000"/>
                </a:solidFill>
                <a:latin typeface="Lato"/>
                <a:ea typeface="Lato"/>
                <a:cs typeface="Lato"/>
                <a:sym typeface="Lato"/>
              </a:rPr>
              <a:t>FOR PREDICTING DRUG-TARGET INTERACTIONS</a:t>
            </a:r>
          </a:p>
        </p:txBody>
      </p:sp>
      <p:sp>
        <p:nvSpPr>
          <p:cNvPr id="7" name="TextBox 7"/>
          <p:cNvSpPr txBox="1"/>
          <p:nvPr/>
        </p:nvSpPr>
        <p:spPr>
          <a:xfrm>
            <a:off x="435690" y="4311511"/>
            <a:ext cx="8060075" cy="638175"/>
          </a:xfrm>
          <a:prstGeom prst="rect">
            <a:avLst/>
          </a:prstGeom>
        </p:spPr>
        <p:txBody>
          <a:bodyPr wrap="square" lIns="0" tIns="0" rIns="0" bIns="0" rtlCol="0" anchor="t">
            <a:spAutoFit/>
          </a:bodyPr>
          <a:lstStyle/>
          <a:p>
            <a:pPr algn="ctr">
              <a:lnSpc>
                <a:spcPts val="1655"/>
              </a:lnSpc>
              <a:spcBef>
                <a:spcPct val="0"/>
              </a:spcBef>
            </a:pPr>
            <a:r>
              <a:rPr lang="en-US" sz="1380" b="1">
                <a:solidFill>
                  <a:srgbClr val="C00000"/>
                </a:solidFill>
                <a:latin typeface="Lato Bold"/>
                <a:ea typeface="Lato Bold"/>
                <a:cs typeface="Lato Bold"/>
                <a:sym typeface="Lato Bold"/>
              </a:rPr>
              <a:t>Course: Machine Learning &amp; Data Mining (IT3191E) — Group 15</a:t>
            </a:r>
          </a:p>
          <a:p>
            <a:pPr algn="ctr">
              <a:lnSpc>
                <a:spcPts val="1655"/>
              </a:lnSpc>
              <a:spcBef>
                <a:spcPct val="0"/>
              </a:spcBef>
            </a:pPr>
            <a:r>
              <a:rPr lang="en-US" sz="1380" b="1">
                <a:solidFill>
                  <a:srgbClr val="C00000"/>
                </a:solidFill>
                <a:latin typeface="Lato Bold"/>
                <a:ea typeface="Lato Bold"/>
                <a:cs typeface="Lato Bold"/>
                <a:sym typeface="Lato Bold"/>
              </a:rPr>
              <a:t>Instructor: Dr. Le Duc Hau</a:t>
            </a:r>
          </a:p>
          <a:p>
            <a:pPr algn="ctr">
              <a:lnSpc>
                <a:spcPts val="1655"/>
              </a:lnSpc>
              <a:spcBef>
                <a:spcPct val="0"/>
              </a:spcBef>
            </a:pPr>
            <a:r>
              <a:rPr lang="en-US" sz="1380" b="1">
                <a:solidFill>
                  <a:srgbClr val="C00000"/>
                </a:solidFill>
                <a:latin typeface="Lato Bold"/>
                <a:ea typeface="Lato Bold"/>
                <a:cs typeface="Lato Bold"/>
                <a:sym typeface="Lato Bold"/>
              </a:rPr>
              <a:t>Cao Van Dong  | Luong Ngoc Vu Long| Pham Thanh Phong | Nguyen Ngoc Minh Hieu | Trinh Luong Viet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Rectangle 7">
            <a:extLst>
              <a:ext uri="{FF2B5EF4-FFF2-40B4-BE49-F238E27FC236}">
                <a16:creationId xmlns:a16="http://schemas.microsoft.com/office/drawing/2014/main" id="{42A4FC2C-047E-45A5-965D-8E1E3BF09BC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 bwMode="white">
          <a:xfrm>
            <a:off x="1219" y="0"/>
            <a:ext cx="9751161" cy="7315200"/>
          </a:xfrm>
          <a:prstGeom prst="rect">
            <a:avLst/>
          </a:prstGeom>
          <a:noFill/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>
            <a:defPPr>
              <a:defRPr lang="en-US"/>
            </a:defPPr>
            <a:lvl1pPr marL="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/>
            <a:endParaRPr lang="en-US"/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38B10C60-5386-6AF7-F5D8-C8428F0833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19"/>
          <a:stretch>
            <a:fillRect/>
          </a:stretch>
        </p:blipFill>
        <p:spPr>
          <a:xfrm>
            <a:off x="20" y="1367"/>
            <a:ext cx="9753580" cy="731383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99545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2BB4D2B-781D-9238-79CA-0D281B55936F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412731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11AE05F-A288-C2FC-3E66-2E547C12E2F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448683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90DCA54-30D7-8654-162B-273ABC79D643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0712518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51BC63ED-B2D1-9FAC-DD10-8448A2476812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75322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F745991-5B32-F5B9-1636-9C31030F956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6909636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654D21-4861-21C6-00BB-031A1E6D2B34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13183898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5F4FA8D-2526-E044-3596-DC1C097A669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109444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4277E7E-4EBD-D7AC-EDE9-4C6A316E93FB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452811378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02CD2085-7134-CB3C-32B3-9950532CCDB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142474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4CF51D8-80F5-1581-DA1D-1CFD572B7A4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568198158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FEB39B72-EB0E-465F-8566-F9CA76E4C09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459273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7817F3EB-28A0-4450-593D-DE338DC99D4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47216490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A42DACB-A2E6-373D-193D-209E3AD8F33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4907563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A4F4E0D-78D7-41FE-B720-B9BA5C004F2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3675001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B545C63B-306E-77A9-E177-098CDC26740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7053343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5CA0D64-D644-D209-D824-C82BCD0C1B9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4031603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0FF232-2573-7A55-1C4B-A7F99586950E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524733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D8553AA1-8368-894D-69C3-73F148DAE6E6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196148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CB4F1FE3-0F42-0A0C-3370-DCE4CB35C80C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74334404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95868307-5C2E-ADDF-6B77-2AD8BB1F3B97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8881178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E2C70EE9-DE9A-20DB-E266-7708BFBB68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163652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2A984E5-F4A7-EC7A-A80A-3216CC29226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1790430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121AD619-1BBB-D096-CBDA-FB690D3B9C71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77334648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EE593A4-20DA-2B39-CE88-8BD3F571F47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190956365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60789BAB-304D-0505-D247-F5720FA84B40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7974128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8C2B9A20-F202-B4C2-6AB6-4C9F5E9279B9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31514844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A3EB14C2-7084-2A7B-21A0-2B9AC548025A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9753600" cy="73152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501242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>
        <a:solidFill>
          <a:schemeClr val="bg1">
            <a:lumMod val="95000"/>
          </a:schemeClr>
        </a:solidFill>
        <a:ln w="6350">
          <a:solidFill>
            <a:schemeClr val="bg1">
              <a:lumMod val="75000"/>
            </a:schemeClr>
          </a:solidFill>
        </a:ln>
      </a:spPr>
      <a:bodyPr rtlCol="0" anchor="ctr"/>
      <a:lstStyle>
        <a:defPPr algn="ctr">
          <a:defRPr baseline="-25000" smtClean="0">
            <a:ln>
              <a:solidFill>
                <a:sysClr val="windowText" lastClr="000000"/>
              </a:solidFill>
            </a:ln>
            <a:solidFill>
              <a:sysClr val="windowText" lastClr="000000"/>
            </a:solidFill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defRPr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  <a:txDef>
      <a:spPr>
        <a:noFill/>
      </a:spPr>
      <a:bodyPr wrap="square" rtlCol="0">
        <a:spAutoFit/>
      </a:bodyPr>
      <a:lstStyle>
        <a:defPPr algn="l">
          <a:defRPr smtClean="0">
            <a:latin typeface="Lato" panose="020F0502020204030203" pitchFamily="34" charset="0"/>
            <a:ea typeface="Lato" panose="020F0502020204030203" pitchFamily="34" charset="0"/>
            <a:cs typeface="Lato" panose="020F0502020204030203" pitchFamily="34" charset="0"/>
          </a:defRPr>
        </a:defPPr>
      </a:lstStyle>
    </a:tx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977</TotalTime>
  <Words>52</Words>
  <Application>Microsoft Office PowerPoint</Application>
  <PresentationFormat>Custom</PresentationFormat>
  <Paragraphs>5</Paragraphs>
  <Slides>29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4" baseType="lpstr">
      <vt:lpstr>Lato</vt:lpstr>
      <vt:lpstr>Arial</vt:lpstr>
      <vt:lpstr>Lato Bold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Machine Learning</dc:title>
  <cp:lastModifiedBy>Trinh Luong Viet 20236012</cp:lastModifiedBy>
  <cp:revision>13</cp:revision>
  <dcterms:created xsi:type="dcterms:W3CDTF">2006-08-16T00:00:00Z</dcterms:created>
  <dcterms:modified xsi:type="dcterms:W3CDTF">2026-06-26T12:33:11Z</dcterms:modified>
  <dc:identifier>DAHMdWZ_6xs</dc:identifier>
</cp:coreProperties>
</file>